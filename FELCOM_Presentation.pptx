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2743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206240" y="0"/>
            <a:ext cx="3840480" cy="27432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0" y="0"/>
            <a:ext cx="4144975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9509760" y="4206240"/>
            <a:ext cx="3657600" cy="3657600"/>
          </a:xfrm>
          <a:prstGeom prst="ellipse">
            <a:avLst/>
          </a:prstGeom>
          <a:solidFill>
            <a:srgbClr val="4F46E5">
              <a:alpha val="6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-1005840" y="-1005840"/>
            <a:ext cx="2377440" cy="2377440"/>
          </a:xfrm>
          <a:prstGeom prst="ellipse">
            <a:avLst/>
          </a:prstGeom>
          <a:solidFill>
            <a:srgbClr val="7C3AED">
              <a:alpha val="5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00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22960" y="2852928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Secure Handheld Communication Device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41248" y="3584448"/>
            <a:ext cx="2103120" cy="64008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0" name="Shape 8"/>
          <p:cNvSpPr/>
          <p:nvPr/>
        </p:nvSpPr>
        <p:spPr>
          <a:xfrm>
            <a:off x="2944368" y="3584448"/>
            <a:ext cx="9144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886200"/>
            <a:ext cx="75895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 Gedeon   ·   Yorgo Hassabou   ·   Charbel Assaad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9C6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Mini-Project   ·   2025 / 2026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9C6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Supervisor: Dr. Hadi Jerdek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C9C6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Lebanese University   ·   Faculty of Engineering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3880" y="1371600"/>
            <a:ext cx="3337560" cy="4160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/>
        </p:spPr>
      </p:sp>
      <p:pic>
        <p:nvPicPr>
          <p:cNvPr id="13" name="Image 0" descr="C:/Users/h/Desktop/Mini-project Fec/Mini-Project/hardware/imgs/FELCOM assembled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321040" y="1499616"/>
            <a:ext cx="3063240" cy="3904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FELCOM?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Everyday communication relies on fixed infrastructure (towers, base stations, the internet), which is a single point of failure.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Off-grid need: a direct radio link between two people that depends on no third party.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 a fixed-frequency radio is easy to locate, intercept, and jam: one interferer on the right frequency silences it.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classic answer is spread spectrum: constantly change the carrier frequency so no single interferer can follow.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handheld units exchanging text and live voice directly over 2.4 GHz, with no infrastructure.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 Frequency-Hopping Spread Spectrum (FHSS) for jam and detection resistance.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custom 32-byte packet protocol with Forward Error Correction.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Lightweight text encryption, a built-in bit-error-rate test, and a real-time Pong demo.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280160" y="3474720"/>
            <a:ext cx="9601200" cy="2743200"/>
          </a:xfrm>
          <a:prstGeom prst="roundRect">
            <a:avLst>
              <a:gd name="adj" fmla="val 2667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pic>
        <p:nvPicPr>
          <p:cNvPr id="8" name="Image 0" descr="C:/Users/h/AppData/Local/Temp/claude/c--Users-h-Desktop-Mini-project-Fec-Mini-Project/4af49bb4-fc29-49ed-b315-f05a2bedcaee/scratchpad/pptxbuild/assets/contex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44752" y="3639312"/>
            <a:ext cx="9272016" cy="241401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7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Overview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5852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Core: an ESP32 microcontroller driving an nRF24L01+ 2.4 GHz GFSK radio over SPI.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in: INMP441 I2S microphone. Voice out: DAC, LM386 amplifier, speaker.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OLED display and tactile buttons, all integrated on a custom PCB.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Layered firmware: physical, transceiver (owns the radio and all FEC), applications.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cooperative, non-blocking main loop, so channel hopping never stalls.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675120" y="1371600"/>
            <a:ext cx="5074920" cy="4709160"/>
          </a:xfrm>
          <a:prstGeom prst="roundRect">
            <a:avLst>
              <a:gd name="adj" fmla="val 1553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pic>
        <p:nvPicPr>
          <p:cNvPr id="8" name="Image 0" descr="C:/Users/h/AppData/Local/Temp/claude/c--Users-h-Desktop-Mini-project-Fec-Mini-Project/4af49bb4-fc29-49ed-b315-f05a2bedcaee/scratchpad/pptxbuild/asset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39712" y="1536192"/>
            <a:ext cx="4745736" cy="437997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7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Frequency-Hopping Spread Spectrum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6812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FHSS gives the link its jam and detection resistance; the nRF24L01+ handles modulation in hardware.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interference-free channels (110 to 115), chosen to sit above the Wi-Fi bands.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nodes hop together every 500 ms from a shared timer counter; a full sweep takes 3 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narrowband jammer can only spoil the few hops that land on its frequency.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eavesdropper who does not know the sequence sees only brief, scattered bursts.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543800" y="2148840"/>
            <a:ext cx="4206240" cy="1874520"/>
          </a:xfrm>
          <a:prstGeom prst="roundRect">
            <a:avLst>
              <a:gd name="adj" fmla="val 2927"/>
            </a:avLst>
          </a:prstGeom>
          <a:solidFill>
            <a:srgbClr val="F3F4F6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26680" y="2286000"/>
            <a:ext cx="38862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hop every 500 ms from
// the shared counter
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 = readCounter() % 6;
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setChannel(HOPPING[slot]);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543800" y="40690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nodes pick the channel from the same counter.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Keeping the Two Nodes in Sync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11064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radios must be on the same channel at the same instant: the most significant challenge of the FHSS link.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node runs a free-running hardware timer that ticks a counter every 500 ms; the channel is counter mod 6.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dedicated Sync screen manually aligns the two counters once, before a chat or audio session.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that one-time step, the timers keep the nodes aligned on their own, with no further exchange.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48640" y="438912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E6FBFF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389120"/>
            <a:ext cx="10424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Negligible clock drift: </a:t>
            </a:r>
            <a:pPr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measurable desynchronization over 3 hours of continuous operation.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32-Byte Frame for Everything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transmission is a fixed 32-byte frame, the maximum nRF24L01+ payload.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Header: source ID, destination ID, packet type, and FEC metadata; then 28 data bytes.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single frame format multiplexes text, voice, and control over one radio (0xFF = broadcast).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68680" y="3337560"/>
            <a:ext cx="1051560" cy="914400"/>
          </a:xfrm>
          <a:prstGeom prst="rect">
            <a:avLst/>
          </a:prstGeom>
          <a:solidFill>
            <a:srgbClr val="06B6D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337560"/>
            <a:ext cx="1051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src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B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20240" y="3337560"/>
            <a:ext cx="1051560" cy="914400"/>
          </a:xfrm>
          <a:prstGeom prst="rect">
            <a:avLst/>
          </a:prstGeom>
          <a:solidFill>
            <a:srgbClr val="EC48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0240" y="3337560"/>
            <a:ext cx="1051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dst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B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71800" y="3337560"/>
            <a:ext cx="1783080" cy="914400"/>
          </a:xfrm>
          <a:prstGeom prst="rect">
            <a:avLst/>
          </a:prstGeom>
          <a:solidFill>
            <a:srgbClr val="F59E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71800" y="3337560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+ fec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B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3337560"/>
            <a:ext cx="6355080" cy="914400"/>
          </a:xfrm>
          <a:prstGeom prst="rect">
            <a:avLst/>
          </a:prstGeom>
          <a:solidFill>
            <a:srgbClr val="4F46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3337560"/>
            <a:ext cx="6355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421538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data[28]: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4507992"/>
            <a:ext cx="5029200" cy="566928"/>
          </a:xfrm>
          <a:prstGeom prst="rect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4507992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payload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B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784080" y="4507992"/>
            <a:ext cx="1325880" cy="566928"/>
          </a:xfrm>
          <a:prstGeom prst="rect">
            <a:avLst/>
          </a:prstGeom>
          <a:solidFill>
            <a:srgbClr val="EC48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0" y="4507992"/>
            <a:ext cx="1325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CRC-16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B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68680" y="518464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last 2 of the 28 data bytes hold the CRC; reliable (ARQ) packets also reserve the first 2 bytes for a sequence number.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Forward Error Correction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radio's own CRC and auto-ACK are disabled; error control is ours, matched per traffic type.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CRC-16: detects corruption and drops bad packets.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 (chat): retransmit until acknowledged, guaranteeing exact delivery.</a:t>
            </a:r>
            <a:endParaRPr lang="en-US" sz="16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XOR block (audio): rebuild one lost packet per block of four, with no retransmission.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463040" y="3474720"/>
            <a:ext cx="9235440" cy="2697480"/>
          </a:xfrm>
          <a:prstGeom prst="roundRect">
            <a:avLst>
              <a:gd name="adj" fmla="val 2712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pic>
        <p:nvPicPr>
          <p:cNvPr id="8" name="Image 0" descr="C:/Users/h/AppData/Local/Temp/claude/c--Users-h-Desktop-Mini-project-Fec-Mini-Project/4af49bb4-fc29-49ed-b315-f05a2bedcaee/scratchpad/pptxbuild/assets/xor-fe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27632" y="3639312"/>
            <a:ext cx="8906256" cy="236829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7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Voice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41605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Half-duplex walkie-talkie: one node talks, the other listens.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kHz, 8-bit voice: low bitrate, intelligible speech.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step is non-blocking, so voice streams while the radio keeps hopping.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Rides the CRC + XOR FEC for forward recovery.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4800600" y="1371600"/>
            <a:ext cx="3291840" cy="4709160"/>
          </a:xfrm>
          <a:prstGeom prst="roundRect">
            <a:avLst>
              <a:gd name="adj" fmla="val 2222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4813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Transmit (talk)</a:t>
            </a:r>
            <a:endParaRPr lang="en-US" sz="1400" dirty="0"/>
          </a:p>
        </p:txBody>
      </p:sp>
      <p:pic>
        <p:nvPicPr>
          <p:cNvPr id="9" name="Image 0" descr="C:/Users/h/AppData/Local/Temp/claude/c--Users-h-Desktop-Mini-project-Fec-Mini-Project/4af49bb4-fc29-49ed-b315-f05a2bedcaee/scratchpad/pptxbuild/assets/audio-pipe-transmi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1920240"/>
            <a:ext cx="2926080" cy="40233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321040" y="1371600"/>
            <a:ext cx="3291840" cy="4709160"/>
          </a:xfrm>
          <a:prstGeom prst="roundRect">
            <a:avLst>
              <a:gd name="adj" fmla="val 2222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21040" y="14813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Receive (listen)</a:t>
            </a:r>
            <a:endParaRPr lang="en-US" sz="1400" dirty="0"/>
          </a:p>
        </p:txBody>
      </p:sp>
      <p:pic>
        <p:nvPicPr>
          <p:cNvPr id="12" name="Image 1" descr="C:/Users/h/AppData/Local/Temp/claude/c--Users-h-Desktop-Mini-project-Fec-Mini-Project/4af49bb4-fc29-49ed-b315-f05a2bedcaee/scratchpad/pptxbuild/assets/audio-pipe-recei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503920" y="1920240"/>
            <a:ext cx="2926080" cy="40233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4" name="Text 10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Applications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00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text is XOR-ciphered with a shared key before it is transmitted.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lightweight obfuscation, not strong cryptography.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Combined with the unknown hopping sequence, the traffic is hard to follow or capture.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Modes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37960" y="2103120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Sync: manually aligns the two hop counters before a session.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Chat: encrypted text, point-to-point (ARQ + CRC) or broadcast (CRC).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Audio: half-duplex voice walkie-talkie.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Pong: real-time two-player game (low-latency bidirectional traffic).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RF/BER Test: built-in link-quality diagnostics.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08760"/>
          <a:ext cx="6217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Metric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FHSS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FHSS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Packets delivered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854 (85.4%)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480 (48%)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Packets lost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146 (14.6%)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520 (52%)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Bit-error rate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1%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A2A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19%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94360" y="37490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RF/BER test, same hardware and channel set, 1000 packets each.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086600" y="1508760"/>
            <a:ext cx="4663440" cy="2560320"/>
          </a:xfrm>
          <a:prstGeom prst="roundRect">
            <a:avLst>
              <a:gd name="adj" fmla="val 2857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69480" y="16459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correction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269480" y="2103120"/>
            <a:ext cx="4297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 delivered 29 of 32 chat messages, with 0 corrupt (CRC).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XOR rebuilt 516 audio packets with no retransmission.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CRC detected and dropped 2,027 corrupted audio packets.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94360" y="457200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5720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8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FHSS turns a barely usable link into a usable one: packet loss fell from 52% to 14.6%.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4" name="Text 11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10058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 &amp; Future Work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00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Synchronization: timer-driven hopping with a one-time manual Sync alignment (automatic sync was deferred).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pipeline initially too slow: reworked the DAC buffer to drop old samples and bypassed CSMA backoff.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nRF24L01+ modules proved unreliable: we screened several units, and they still drop the occasional packet.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4F2FF"/>
          </a:solidFill>
          <a:ln w="12700">
            <a:solidFill>
              <a:srgbClr val="D7D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37960" y="2103120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Stronger, authenticated encryption (AES) in place of the lightweight XOR cipher.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synchronization, removing the manual Sync step.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A2A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larger receive buffer or a stronger code for cleaner audio.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1430000" y="6336792"/>
            <a:ext cx="402336" cy="402336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0" y="6336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643737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FELCOM  ·  Secure Handheld Communication Device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2743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Shape 1"/>
          <p:cNvSpPr/>
          <p:nvPr/>
        </p:nvSpPr>
        <p:spPr>
          <a:xfrm>
            <a:off x="4206240" y="0"/>
            <a:ext cx="3840480" cy="27432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0" y="0"/>
            <a:ext cx="4144975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9692640" y="4389120"/>
            <a:ext cx="3474720" cy="3474720"/>
          </a:xfrm>
          <a:prstGeom prst="ellipse">
            <a:avLst/>
          </a:prstGeom>
          <a:solidFill>
            <a:srgbClr val="4F46E5">
              <a:alpha val="6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6858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04672" y="1481328"/>
            <a:ext cx="2103120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828800"/>
            <a:ext cx="7040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Jam-resistant, infrastructure-free text and voice on cheap, commodity hardware.</a:t>
            </a:r>
            <a:endParaRPr lang="en-US" sz="17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FHSS is the key: it cut packet loss from 52% to 14.6% on the same channel set.</a:t>
            </a:r>
            <a:endParaRPr lang="en-US" sz="17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Forward error correction is matched to each traffic type (CRC, ARQ, XOR).</a:t>
            </a:r>
            <a:endParaRPr lang="en-US" sz="17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Designed, integrated on a custom PCB, and validated on real hardware.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52578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  ·  Questions?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229600" y="1554480"/>
            <a:ext cx="3337560" cy="40233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/>
        </p:spPr>
      </p:sp>
      <p:pic>
        <p:nvPicPr>
          <p:cNvPr id="11" name="Image 0" descr="C:/Users/h/Desktop/Mini-project Fec/Mini-Project/hardware/imgs/FELCOM assembled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366760" y="1682496"/>
            <a:ext cx="3063240" cy="37673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Lebanese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FELCOM</dc:title>
  <dc:subject>PptxGenJS Presentation</dc:subject>
  <dc:creator>FELCOM Team</dc:creator>
  <cp:lastModifiedBy>FELCOM Team</cp:lastModifiedBy>
  <cp:revision>1</cp:revision>
  <dcterms:created xsi:type="dcterms:W3CDTF">2026-06-26T08:26:30Z</dcterms:created>
  <dcterms:modified xsi:type="dcterms:W3CDTF">2026-06-26T08:26:30Z</dcterms:modified>
</cp:coreProperties>
</file>