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6" d="100"/>
          <a:sy n="96" d="100"/>
        </p:scale>
        <p:origin x="5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63334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2743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Shape 1"/>
          <p:cNvSpPr/>
          <p:nvPr/>
        </p:nvSpPr>
        <p:spPr>
          <a:xfrm>
            <a:off x="4206240" y="0"/>
            <a:ext cx="3840480" cy="27432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8046720" y="0"/>
            <a:ext cx="4144975" cy="2743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" name="Shape 3"/>
          <p:cNvSpPr/>
          <p:nvPr/>
        </p:nvSpPr>
        <p:spPr>
          <a:xfrm>
            <a:off x="9509760" y="4206240"/>
            <a:ext cx="3657600" cy="3657600"/>
          </a:xfrm>
          <a:prstGeom prst="ellipse">
            <a:avLst/>
          </a:prstGeom>
          <a:solidFill>
            <a:srgbClr val="4F46E5">
              <a:alpha val="6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-1005840" y="-1005840"/>
            <a:ext cx="2377440" cy="2377440"/>
          </a:xfrm>
          <a:prstGeom prst="ellipse">
            <a:avLst/>
          </a:prstGeom>
          <a:solidFill>
            <a:srgbClr val="7C3AED">
              <a:alpha val="55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463040"/>
            <a:ext cx="74980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FELCOM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822960" y="2697480"/>
            <a:ext cx="7498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Secure Handheld Communication Device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41248" y="3474720"/>
            <a:ext cx="2103120" cy="64008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10" name="Shape 8"/>
          <p:cNvSpPr/>
          <p:nvPr/>
        </p:nvSpPr>
        <p:spPr>
          <a:xfrm>
            <a:off x="2944368" y="3474720"/>
            <a:ext cx="91440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749040"/>
            <a:ext cx="758952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1400"/>
              </a:spcAft>
              <a:buNone/>
            </a:pPr>
            <a:r>
              <a:rPr lang="en-US" sz="1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Marc Gedeon   ·   Yorgo Hassabou   ·   Charbel Assaad</a:t>
            </a:r>
            <a:endParaRPr lang="en-US" sz="190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700" dirty="0">
                <a:solidFill>
                  <a:srgbClr val="C9C6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Mini-Project   ·   2025 / 2026</a:t>
            </a:r>
            <a:endParaRPr lang="en-US" sz="190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700" dirty="0">
                <a:solidFill>
                  <a:srgbClr val="C9C6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Presented to: Dr. Hadi Jerdek</a:t>
            </a:r>
            <a:endParaRPr lang="en-US" sz="190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700" dirty="0">
                <a:solidFill>
                  <a:srgbClr val="C9C6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Lebanese University   ·   Faculty of Engineering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8183880" y="1371600"/>
            <a:ext cx="3337560" cy="416052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/>
        </p:spPr>
      </p:sp>
      <p:pic>
        <p:nvPicPr>
          <p:cNvPr id="13" name="Image 0" descr="C:/Users/h/Desktop/Mini-project Fec/Mini-Project/hardware/imgs/FELCOM assembled.jpe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321040" y="1499616"/>
            <a:ext cx="3063240" cy="390448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10058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384048"/>
            <a:ext cx="256032" cy="256032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6304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Outline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05840" y="1737360"/>
            <a:ext cx="512064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300" b="1" dirty="0">
                <a:solidFill>
                  <a:srgbClr val="EC48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 </a:t>
            </a:r>
            <a:r>
              <a:rPr lang="en-US" sz="23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Motivation &amp; goals</a:t>
            </a:r>
            <a:endParaRPr lang="en-US" sz="2300" dirty="0"/>
          </a:p>
          <a:p>
            <a:pPr marL="0" indent="0">
              <a:buNone/>
            </a:pPr>
            <a:r>
              <a:rPr lang="en-US" sz="23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 </a:t>
            </a:r>
            <a:r>
              <a:rPr lang="en-US" sz="23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overview</a:t>
            </a:r>
            <a:endParaRPr lang="en-US" sz="2300" dirty="0"/>
          </a:p>
          <a:p>
            <a:pPr marL="0" indent="0">
              <a:buNone/>
            </a:pPr>
            <a:r>
              <a:rPr lang="en-US" sz="230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 </a:t>
            </a:r>
            <a:r>
              <a:rPr lang="en-US" sz="23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Frequency hopping &amp; sync</a:t>
            </a:r>
            <a:endParaRPr lang="en-US" sz="2300" dirty="0"/>
          </a:p>
          <a:p>
            <a:pPr marL="0" indent="0">
              <a:buNone/>
            </a:pPr>
            <a:r>
              <a:rPr lang="en-US" sz="230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 </a:t>
            </a:r>
            <a:r>
              <a:rPr lang="en-US" sz="23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Packet protocol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6492240" y="1737360"/>
            <a:ext cx="512064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300" b="1" dirty="0">
                <a:solidFill>
                  <a:srgbClr val="EC48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 </a:t>
            </a:r>
            <a:r>
              <a:rPr lang="en-US" sz="23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Forward error correction</a:t>
            </a:r>
            <a:endParaRPr lang="en-US" sz="2300" dirty="0"/>
          </a:p>
          <a:p>
            <a:pPr marL="0" indent="0">
              <a:buNone/>
            </a:pPr>
            <a:r>
              <a:rPr lang="en-US" sz="23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 </a:t>
            </a:r>
            <a:r>
              <a:rPr lang="en-US" sz="23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audio</a:t>
            </a:r>
            <a:endParaRPr lang="en-US" sz="2300" dirty="0"/>
          </a:p>
          <a:p>
            <a:pPr marL="0" indent="0">
              <a:buNone/>
            </a:pPr>
            <a:r>
              <a:rPr lang="en-US" sz="230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 </a:t>
            </a:r>
            <a:r>
              <a:rPr lang="en-US" sz="23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&amp; applications</a:t>
            </a:r>
            <a:endParaRPr lang="en-US" sz="2300" dirty="0"/>
          </a:p>
          <a:p>
            <a:pPr marL="0" indent="0">
              <a:buNone/>
            </a:pPr>
            <a:r>
              <a:rPr lang="en-US" sz="230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 </a:t>
            </a:r>
            <a:r>
              <a:rPr lang="en-US" sz="23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Results &amp; conclusion</a:t>
            </a:r>
            <a:endParaRPr lang="en-US" sz="2300" dirty="0"/>
          </a:p>
        </p:txBody>
      </p:sp>
      <p:sp>
        <p:nvSpPr>
          <p:cNvPr id="8" name="Shape 6"/>
          <p:cNvSpPr/>
          <p:nvPr/>
        </p:nvSpPr>
        <p:spPr>
          <a:xfrm>
            <a:off x="11430000" y="6336792"/>
            <a:ext cx="402336" cy="402336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9" name="Text 7"/>
          <p:cNvSpPr/>
          <p:nvPr/>
        </p:nvSpPr>
        <p:spPr>
          <a:xfrm>
            <a:off x="11430000" y="63367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643737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FELCOM  ·  Secure Handheld Communication Device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10058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384048"/>
            <a:ext cx="256032" cy="256032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6304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FELCOM?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Networks rely on fixed infrastructure: a single point of failure.</a:t>
            </a:r>
            <a:endParaRPr lang="en-US" sz="22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Off-grid need: a direct link, no third party.</a:t>
            </a:r>
            <a:endParaRPr lang="en-US" sz="22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fixed-frequency radio is easy to jam and intercept.</a:t>
            </a:r>
            <a:endParaRPr lang="en-US" sz="22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Answer: spread spectrum, constantly change the frequency.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1430000" y="6336792"/>
            <a:ext cx="402336" cy="402336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0" y="63367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643737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FELCOM  ·  Secure Handheld Communication Device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10058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384048"/>
            <a:ext cx="256032" cy="256032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6304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Built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1371600"/>
            <a:ext cx="109728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Text + live voice over 2.4 GHz, no infrastructure.</a:t>
            </a:r>
            <a:endParaRPr lang="en-US" sz="22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Software FHSS: jam and detection resistance.</a:t>
            </a:r>
            <a:endParaRPr lang="en-US" sz="22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 32-byte packet protocol with FEC.</a:t>
            </a:r>
            <a:endParaRPr lang="en-US" sz="22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Text encryption, BER test, and a Pong demo.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243016" y="4126140"/>
            <a:ext cx="7674707" cy="1641614"/>
          </a:xfrm>
          <a:prstGeom prst="roundRect">
            <a:avLst>
              <a:gd name="adj" fmla="val 2807"/>
            </a:avLst>
          </a:prstGeom>
          <a:solidFill>
            <a:srgbClr val="F4F2FF"/>
          </a:solidFill>
          <a:ln w="12700">
            <a:solidFill>
              <a:srgbClr val="D7D3F0"/>
            </a:solidFill>
            <a:prstDash val="solid"/>
          </a:ln>
        </p:spPr>
      </p:sp>
      <p:pic>
        <p:nvPicPr>
          <p:cNvPr id="8" name="Image 0" descr="C:/Users/h/AppData/Local/Temp/claude/c--Users-h-Desktop-Mini-project-Fec-Mini-Project/4af49bb4-fc29-49ed-b315-f05a2bedcaee/scratchpad/pptxbuild/assets/contex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449267" y="4244873"/>
            <a:ext cx="7293160" cy="1388517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1430000" y="6336792"/>
            <a:ext cx="402336" cy="402336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0" name="Text 7"/>
          <p:cNvSpPr/>
          <p:nvPr/>
        </p:nvSpPr>
        <p:spPr>
          <a:xfrm>
            <a:off x="11430000" y="63367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11480" y="643737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FELCOM  ·  Secure Handheld Communication Device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10058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384048"/>
            <a:ext cx="256032" cy="256032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6304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Overview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1554480"/>
            <a:ext cx="57607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ESP32 + nRF24L01+ 2.4 GHz radio (SPI).</a:t>
            </a:r>
            <a:endParaRPr lang="en-US" sz="22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INMP441 mic; DAC + LM386 + speaker.</a:t>
            </a:r>
            <a:endParaRPr lang="en-US" sz="22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OLED + buttons; custom PCB.</a:t>
            </a:r>
            <a:endParaRPr lang="en-US" sz="22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Layered firmware; non-blocking loop.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675120" y="1371600"/>
            <a:ext cx="5074920" cy="4709160"/>
          </a:xfrm>
          <a:prstGeom prst="roundRect">
            <a:avLst>
              <a:gd name="adj" fmla="val 1553"/>
            </a:avLst>
          </a:prstGeom>
          <a:solidFill>
            <a:srgbClr val="F4F2FF"/>
          </a:solidFill>
          <a:ln w="12700">
            <a:solidFill>
              <a:srgbClr val="D7D3F0"/>
            </a:solidFill>
            <a:prstDash val="solid"/>
          </a:ln>
        </p:spPr>
      </p:sp>
      <p:pic>
        <p:nvPicPr>
          <p:cNvPr id="8" name="Image 0" descr="C:/Users/h/AppData/Local/Temp/claude/c--Users-h-Desktop-Mini-project-Fec-Mini-Project/4af49bb4-fc29-49ed-b315-f05a2bedcaee/scratchpad/pptxbuild/assets/architectur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821424" y="1517904"/>
            <a:ext cx="4782312" cy="441655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1430000" y="6336792"/>
            <a:ext cx="402336" cy="402336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0" name="Text 7"/>
          <p:cNvSpPr/>
          <p:nvPr/>
        </p:nvSpPr>
        <p:spPr>
          <a:xfrm>
            <a:off x="11430000" y="63367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11480" y="643737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FELCOM  ·  Secure Handheld Communication Device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10058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384048"/>
            <a:ext cx="256032" cy="256032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6304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Frequency Hopping &amp; Synchronization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68580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Six channels (110 to 115), above Wi-Fi.</a:t>
            </a:r>
            <a:endParaRPr lang="en-US" sz="22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Hop every 500 ms; full sweep in 3 s.</a:t>
            </a:r>
            <a:endParaRPr lang="en-US" sz="22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jammer only spoils the few matching hops.</a:t>
            </a:r>
            <a:endParaRPr lang="en-US" sz="22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shared counter keeps both nodes aligned.</a:t>
            </a:r>
            <a:endParaRPr lang="en-US" sz="22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Sync once, then stable: no drift over 3 h.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589520" y="2286000"/>
            <a:ext cx="4160520" cy="1783080"/>
          </a:xfrm>
          <a:prstGeom prst="roundRect">
            <a:avLst>
              <a:gd name="adj" fmla="val 3077"/>
            </a:avLst>
          </a:prstGeom>
          <a:solidFill>
            <a:srgbClr val="F3F4F6"/>
          </a:solidFill>
          <a:ln w="12700">
            <a:solidFill>
              <a:srgbClr val="D7D3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0" y="2423160"/>
            <a:ext cx="38404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hop every 500 ms from
// the shared counter
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slot = readCounter() % 6;
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6D28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setChannel(HOPPING[slot]);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1430000" y="6336792"/>
            <a:ext cx="402336" cy="402336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0" y="63367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643737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FELCOM  ·  Secure Handheld Communication Device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10058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384048"/>
            <a:ext cx="256032" cy="256032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6304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32-Byte Frame for Everything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137160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Fixed 32-byte frame (the nRF24 maximum).</a:t>
            </a:r>
            <a:endParaRPr lang="en-US" sz="22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Header: src, dst, packet type, FEC metadata.</a:t>
            </a:r>
            <a:endParaRPr lang="en-US" sz="22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 data bytes; one frame for text, voice, control (0xFF = broadcast).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868680" y="3611880"/>
            <a:ext cx="1097280" cy="960120"/>
          </a:xfrm>
          <a:prstGeom prst="rect">
            <a:avLst/>
          </a:prstGeom>
          <a:solidFill>
            <a:srgbClr val="06B6D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3611880"/>
            <a:ext cx="1097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src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B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965960" y="3611880"/>
            <a:ext cx="1097280" cy="960120"/>
          </a:xfrm>
          <a:prstGeom prst="rect">
            <a:avLst/>
          </a:prstGeom>
          <a:solidFill>
            <a:srgbClr val="EC48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65960" y="3611880"/>
            <a:ext cx="1097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dst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B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063240" y="3611880"/>
            <a:ext cx="1783080" cy="960120"/>
          </a:xfrm>
          <a:prstGeom prst="rect">
            <a:avLst/>
          </a:prstGeom>
          <a:solidFill>
            <a:srgbClr val="F59E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63240" y="3611880"/>
            <a:ext cx="1783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 + fec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B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846320" y="3611880"/>
            <a:ext cx="6263640" cy="960120"/>
          </a:xfrm>
          <a:prstGeom prst="rect">
            <a:avLst/>
          </a:prstGeom>
          <a:solidFill>
            <a:srgbClr val="4F46E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3611880"/>
            <a:ext cx="6263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 B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846320" y="4800600"/>
            <a:ext cx="4937760" cy="594360"/>
          </a:xfrm>
          <a:prstGeom prst="rect">
            <a:avLst/>
          </a:prstGeom>
          <a:solidFill>
            <a:srgbClr val="7C3AE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0" y="4800600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payload</a:t>
            </a:r>
            <a:endParaRPr lang="en-US" sz="13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B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784080" y="4800600"/>
            <a:ext cx="1325880" cy="594360"/>
          </a:xfrm>
          <a:prstGeom prst="rect">
            <a:avLst/>
          </a:prstGeom>
          <a:solidFill>
            <a:srgbClr val="EC48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84080" y="4800600"/>
            <a:ext cx="1325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CRC-16</a:t>
            </a:r>
            <a:endParaRPr lang="en-US" sz="13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B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68680" y="553212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CRC in the last 2 of the 28 data bytes; ARQ uses the first 2 for a sequence number.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1430000" y="6336792"/>
            <a:ext cx="402336" cy="402336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21" name="Text 19"/>
          <p:cNvSpPr/>
          <p:nvPr/>
        </p:nvSpPr>
        <p:spPr>
          <a:xfrm>
            <a:off x="11430000" y="63367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11480" y="643737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FELCOM  ·  Secure Handheld Communication Device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10058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384048"/>
            <a:ext cx="256032" cy="256032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6304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Forward Error Correction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1371600"/>
            <a:ext cx="109728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own error control (radio CRC and ACK off).</a:t>
            </a:r>
            <a:endParaRPr lang="en-US" sz="22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CRC-16: detect and drop corruption.</a:t>
            </a:r>
            <a:endParaRPr lang="en-US" sz="22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ARQ (chat): retransmit until acknowledged.</a:t>
            </a:r>
            <a:endParaRPr lang="en-US" sz="22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XOR (audio): rebuild one lost packet per block of four.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774092" y="3469953"/>
            <a:ext cx="8650067" cy="2967423"/>
          </a:xfrm>
          <a:prstGeom prst="roundRect">
            <a:avLst>
              <a:gd name="adj" fmla="val 2807"/>
            </a:avLst>
          </a:prstGeom>
          <a:solidFill>
            <a:srgbClr val="F4F2FF"/>
          </a:solidFill>
          <a:ln w="12700">
            <a:solidFill>
              <a:srgbClr val="D7D3F0"/>
            </a:solidFill>
            <a:prstDash val="solid"/>
          </a:ln>
        </p:spPr>
      </p:sp>
      <p:pic>
        <p:nvPicPr>
          <p:cNvPr id="8" name="Image 0" descr="C:/Users/h/AppData/Local/Temp/claude/c--Users-h-Desktop-Mini-project-Fec-Mini-Project/4af49bb4-fc29-49ed-b315-f05a2bedcaee/scratchpad/pptxbuild/assets/xor-fec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942312" y="3611880"/>
            <a:ext cx="6276895" cy="2683569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1430000" y="6336792"/>
            <a:ext cx="402336" cy="402336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0" name="Text 7"/>
          <p:cNvSpPr/>
          <p:nvPr/>
        </p:nvSpPr>
        <p:spPr>
          <a:xfrm>
            <a:off x="11430000" y="63367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11480" y="643737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FELCOM  ·  Secure Handheld Communication Device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10058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384048"/>
            <a:ext cx="256032" cy="256032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6304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Voice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02920" y="1508760"/>
            <a:ext cx="41605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Half-duplex walkie-talkie.</a:t>
            </a:r>
            <a:endParaRPr lang="en-US" sz="22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kHz, 8-bit voice.</a:t>
            </a:r>
            <a:endParaRPr lang="en-US" sz="22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Non-blocking: streams while hopping.</a:t>
            </a:r>
            <a:endParaRPr lang="en-US" sz="22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Protected by CRC + XOR FEC.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800600" y="1371600"/>
            <a:ext cx="3291840" cy="4709160"/>
          </a:xfrm>
          <a:prstGeom prst="roundRect">
            <a:avLst>
              <a:gd name="adj" fmla="val 2222"/>
            </a:avLst>
          </a:prstGeom>
          <a:solidFill>
            <a:srgbClr val="F4F2FF"/>
          </a:solidFill>
          <a:ln w="12700">
            <a:solidFill>
              <a:srgbClr val="D7D3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00600" y="148132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C48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Transmit (talk)</a:t>
            </a:r>
            <a:endParaRPr lang="en-US" sz="1500" dirty="0"/>
          </a:p>
        </p:txBody>
      </p:sp>
      <p:pic>
        <p:nvPicPr>
          <p:cNvPr id="9" name="Image 0" descr="C:/Users/h/AppData/Local/Temp/claude/c--Users-h-Desktop-Mini-project-Fec-Mini-Project/4af49bb4-fc29-49ed-b315-f05a2bedcaee/scratchpad/pptxbuild/assets/audio-pipe-transmi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983480" y="1920240"/>
            <a:ext cx="2926080" cy="402336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321040" y="1371600"/>
            <a:ext cx="3291840" cy="4709160"/>
          </a:xfrm>
          <a:prstGeom prst="roundRect">
            <a:avLst>
              <a:gd name="adj" fmla="val 2222"/>
            </a:avLst>
          </a:prstGeom>
          <a:solidFill>
            <a:srgbClr val="F4F2FF"/>
          </a:solidFill>
          <a:ln w="12700">
            <a:solidFill>
              <a:srgbClr val="D7D3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321040" y="148132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Receive (listen)</a:t>
            </a:r>
            <a:endParaRPr lang="en-US" sz="1500" dirty="0"/>
          </a:p>
        </p:txBody>
      </p:sp>
      <p:pic>
        <p:nvPicPr>
          <p:cNvPr id="12" name="Image 1" descr="C:/Users/h/AppData/Local/Temp/claude/c--Users-h-Desktop-Mini-project-Fec-Mini-Project/4af49bb4-fc29-49ed-b315-f05a2bedcaee/scratchpad/pptxbuild/assets/audio-pipe-receive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503920" y="1920240"/>
            <a:ext cx="2926080" cy="402336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11430000" y="6336792"/>
            <a:ext cx="402336" cy="402336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4" name="Text 10"/>
          <p:cNvSpPr/>
          <p:nvPr/>
        </p:nvSpPr>
        <p:spPr>
          <a:xfrm>
            <a:off x="11430000" y="63367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411480" y="643737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FELCOM  ·  Secure Handheld Communication Device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10058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384048"/>
            <a:ext cx="256032" cy="256032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6304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&amp; Applications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486400" cy="4572000"/>
          </a:xfrm>
          <a:prstGeom prst="roundRect">
            <a:avLst>
              <a:gd name="adj" fmla="val 1600"/>
            </a:avLst>
          </a:prstGeom>
          <a:solidFill>
            <a:srgbClr val="F4F2FF"/>
          </a:solidFill>
          <a:ln w="12700">
            <a:solidFill>
              <a:srgbClr val="D7D3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60020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C48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2148840"/>
            <a:ext cx="4983480" cy="3611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XOR cipher on chat text.</a:t>
            </a:r>
            <a:endParaRPr lang="en-US" sz="22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Obfuscation, not strong crypto.</a:t>
            </a:r>
            <a:endParaRPr lang="en-US" sz="22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Hopping makes capture hard.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63640" y="1417320"/>
            <a:ext cx="5486400" cy="4572000"/>
          </a:xfrm>
          <a:prstGeom prst="roundRect">
            <a:avLst>
              <a:gd name="adj" fmla="val 1600"/>
            </a:avLst>
          </a:prstGeom>
          <a:solidFill>
            <a:srgbClr val="F4F2FF"/>
          </a:solidFill>
          <a:ln w="12700">
            <a:solidFill>
              <a:srgbClr val="D7D3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160020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Application Modes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537960" y="2148840"/>
            <a:ext cx="4983480" cy="3611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Sync: align the hop counters.</a:t>
            </a:r>
            <a:endParaRPr lang="en-US" sz="22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Chat: reliable encrypted text.</a:t>
            </a:r>
            <a:endParaRPr lang="en-US" sz="22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Audio: voice walkie-talkie.</a:t>
            </a:r>
            <a:endParaRPr lang="en-US" sz="22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Pong: real-time game.</a:t>
            </a:r>
            <a:endParaRPr lang="en-US" sz="22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RF/BER Test: link diagnostics.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11430000" y="6336792"/>
            <a:ext cx="402336" cy="402336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3" name="Text 11"/>
          <p:cNvSpPr/>
          <p:nvPr/>
        </p:nvSpPr>
        <p:spPr>
          <a:xfrm>
            <a:off x="11430000" y="63367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643737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FELCOM  ·  Secure Handheld Communication Device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10058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384048"/>
            <a:ext cx="256032" cy="256032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6304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Results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554480"/>
          <a:ext cx="6035040" cy="2267712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Metric</a:t>
                      </a:r>
                      <a:endParaRPr lang="en-US" sz="17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FHSS</a:t>
                      </a:r>
                      <a:endParaRPr lang="en-US" sz="17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FHSS</a:t>
                      </a:r>
                      <a:endParaRPr lang="en-US" sz="17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2A2A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Delivered</a:t>
                      </a:r>
                      <a:endParaRPr lang="en-US" sz="17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rgbClr val="2A2A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85.4%</a:t>
                      </a:r>
                      <a:endParaRPr lang="en-US" sz="17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rgbClr val="2A2A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48%</a:t>
                      </a:r>
                      <a:endParaRPr lang="en-US" sz="17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2A2A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Lost</a:t>
                      </a:r>
                      <a:endParaRPr lang="en-US" sz="17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rgbClr val="2A2A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14.6%</a:t>
                      </a:r>
                      <a:endParaRPr lang="en-US" sz="17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rgbClr val="2A2A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52%</a:t>
                      </a:r>
                      <a:endParaRPr lang="en-US" sz="17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2A2A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Bit-error rate</a:t>
                      </a:r>
                      <a:endParaRPr lang="en-US" sz="17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rgbClr val="2A2A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1%</a:t>
                      </a:r>
                      <a:endParaRPr lang="en-US" sz="17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rgbClr val="2A2A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19%</a:t>
                      </a:r>
                      <a:endParaRPr lang="en-US" sz="17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040880" y="1554480"/>
            <a:ext cx="4709160" cy="2743200"/>
          </a:xfrm>
          <a:prstGeom prst="roundRect">
            <a:avLst>
              <a:gd name="adj" fmla="val 2667"/>
            </a:avLst>
          </a:prstGeom>
          <a:solidFill>
            <a:srgbClr val="F4F2FF"/>
          </a:solidFill>
          <a:ln w="12700">
            <a:solidFill>
              <a:srgbClr val="D7D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269480" y="169164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correction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7269480" y="2194560"/>
            <a:ext cx="42976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ARQ: 29 / 32 delivered, 0 corrupt.</a:t>
            </a:r>
            <a:endParaRPr lang="en-US" sz="18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XOR: 516 packets rebuilt.</a:t>
            </a:r>
            <a:endParaRPr lang="en-US" sz="18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CRC: 2,027 corrupt dropped.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94360" y="4617720"/>
            <a:ext cx="11155680" cy="960120"/>
          </a:xfrm>
          <a:prstGeom prst="roundRect">
            <a:avLst>
              <a:gd name="adj" fmla="val 9524"/>
            </a:avLst>
          </a:prstGeom>
          <a:solidFill>
            <a:srgbClr val="FFF3D6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4617720"/>
            <a:ext cx="10698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9A68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FHSS cut packet loss from 52% to 14.6% on the same channel set.</a:t>
            </a:r>
            <a:endParaRPr lang="en-US" sz="2000" dirty="0"/>
          </a:p>
        </p:txBody>
      </p:sp>
      <p:sp>
        <p:nvSpPr>
          <p:cNvPr id="6" name="Shape 9"/>
          <p:cNvSpPr/>
          <p:nvPr/>
        </p:nvSpPr>
        <p:spPr>
          <a:xfrm>
            <a:off x="11430000" y="6336792"/>
            <a:ext cx="402336" cy="402336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3" name="Text 10"/>
          <p:cNvSpPr/>
          <p:nvPr/>
        </p:nvSpPr>
        <p:spPr>
          <a:xfrm>
            <a:off x="11430000" y="63367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11480" y="643737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FELCOM  ·  Secure Handheld Communication Device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10058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384048"/>
            <a:ext cx="256032" cy="256032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6304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Challenges &amp; Future Work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486400" cy="4572000"/>
          </a:xfrm>
          <a:prstGeom prst="roundRect">
            <a:avLst>
              <a:gd name="adj" fmla="val 1600"/>
            </a:avLst>
          </a:prstGeom>
          <a:solidFill>
            <a:srgbClr val="F4F2FF"/>
          </a:solidFill>
          <a:ln w="12700">
            <a:solidFill>
              <a:srgbClr val="D7D3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60020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C48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Challenges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2148840"/>
            <a:ext cx="4983480" cy="3611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Sync: manual alignment (auto deferred).</a:t>
            </a:r>
            <a:endParaRPr lang="en-US" sz="22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Audio pipeline: DAC rework, skip CSMA.</a:t>
            </a:r>
            <a:endParaRPr lang="en-US" sz="22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nRF24L01+ modules unreliable.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63640" y="1417320"/>
            <a:ext cx="5486400" cy="4572000"/>
          </a:xfrm>
          <a:prstGeom prst="roundRect">
            <a:avLst>
              <a:gd name="adj" fmla="val 1600"/>
            </a:avLst>
          </a:prstGeom>
          <a:solidFill>
            <a:srgbClr val="F4F2FF"/>
          </a:solidFill>
          <a:ln w="12700">
            <a:solidFill>
              <a:srgbClr val="D7D3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160020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Future Work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537960" y="2148840"/>
            <a:ext cx="4983480" cy="3611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AES authenticated encryption.</a:t>
            </a:r>
            <a:endParaRPr lang="en-US" sz="22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Automatic synchronization.</a:t>
            </a:r>
            <a:endParaRPr lang="en-US" sz="22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Larger buffer / stronger code for audio.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11430000" y="6336792"/>
            <a:ext cx="402336" cy="402336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3" name="Text 11"/>
          <p:cNvSpPr/>
          <p:nvPr/>
        </p:nvSpPr>
        <p:spPr>
          <a:xfrm>
            <a:off x="11430000" y="63367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643737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FELCOM  ·  Secure Handheld Communication Device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1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2743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Shape 1"/>
          <p:cNvSpPr/>
          <p:nvPr/>
        </p:nvSpPr>
        <p:spPr>
          <a:xfrm>
            <a:off x="4206240" y="0"/>
            <a:ext cx="3840480" cy="27432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8046720" y="0"/>
            <a:ext cx="4144975" cy="2743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" name="Shape 3"/>
          <p:cNvSpPr/>
          <p:nvPr/>
        </p:nvSpPr>
        <p:spPr>
          <a:xfrm>
            <a:off x="9692640" y="4389120"/>
            <a:ext cx="3474720" cy="3474720"/>
          </a:xfrm>
          <a:prstGeom prst="ellipse">
            <a:avLst/>
          </a:prstGeom>
          <a:solidFill>
            <a:srgbClr val="4F46E5">
              <a:alpha val="6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64008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Conclusion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804672" y="1463040"/>
            <a:ext cx="2103120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82880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Jam-resistant text and voice on cheap hardware.</a:t>
            </a:r>
            <a:endParaRPr lang="en-US" sz="22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FHSS is the key: packet loss 52% to 14.6%.</a:t>
            </a:r>
            <a:endParaRPr lang="en-US" sz="22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FEC matched per traffic type: CRC, ARQ, XOR.</a:t>
            </a:r>
            <a:endParaRPr lang="en-US" sz="22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on a custom PCB, validated on real hardware.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04672" y="4983480"/>
            <a:ext cx="7223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Future work: </a:t>
            </a: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AES encryption and automatic synchronization.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229600" y="1554480"/>
            <a:ext cx="3337560" cy="402336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/>
        </p:spPr>
      </p:sp>
      <p:pic>
        <p:nvPicPr>
          <p:cNvPr id="11" name="Image 0" descr="C:/Users/h/Desktop/Mini-project Fec/Mini-Project/hardware/imgs/FELCOM assembled.jpe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366760" y="1682496"/>
            <a:ext cx="3063240" cy="376732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10058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384048"/>
            <a:ext cx="256032" cy="256032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6304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22960" y="1508760"/>
            <a:ext cx="1060704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4F46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[1]  </a:t>
            </a:r>
            <a:r>
              <a:rPr lang="en-US" sz="17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Nordic Semiconductor, nRF24L01+ Transceiver Product Specification.</a:t>
            </a:r>
            <a:endParaRPr lang="en-US" sz="1700" dirty="0"/>
          </a:p>
          <a:p>
            <a:pPr marL="0" indent="0">
              <a:buNone/>
            </a:pPr>
            <a:r>
              <a:rPr lang="en-US" sz="1700" b="1" dirty="0">
                <a:solidFill>
                  <a:srgbClr val="4F46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[2]  </a:t>
            </a:r>
            <a:r>
              <a:rPr lang="en-US" sz="17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Espressif Systems, ESP32 Technical Reference Manual and Datasheet.</a:t>
            </a:r>
            <a:endParaRPr lang="en-US" sz="1700" dirty="0"/>
          </a:p>
          <a:p>
            <a:pPr marL="0" indent="0">
              <a:buNone/>
            </a:pPr>
            <a:r>
              <a:rPr lang="en-US" sz="1700" b="1" dirty="0">
                <a:solidFill>
                  <a:srgbClr val="4F46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[3]  </a:t>
            </a:r>
            <a:r>
              <a:rPr lang="en-US" sz="17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InvenSense (TDK), INMP441 I2S Microphone Datasheet.</a:t>
            </a:r>
            <a:endParaRPr lang="en-US" sz="1700" dirty="0"/>
          </a:p>
          <a:p>
            <a:pPr marL="0" indent="0">
              <a:buNone/>
            </a:pPr>
            <a:r>
              <a:rPr lang="en-US" sz="1700" b="1" dirty="0">
                <a:solidFill>
                  <a:srgbClr val="4F46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[4]  </a:t>
            </a:r>
            <a:r>
              <a:rPr lang="en-US" sz="17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Texas Instruments, LM386 Audio Power Amplifier Datasheet.</a:t>
            </a:r>
            <a:endParaRPr lang="en-US" sz="1700" dirty="0"/>
          </a:p>
          <a:p>
            <a:pPr marL="0" indent="0">
              <a:buNone/>
            </a:pPr>
            <a:r>
              <a:rPr lang="en-US" sz="1700" b="1" dirty="0">
                <a:solidFill>
                  <a:srgbClr val="4F46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[5]  </a:t>
            </a:r>
            <a:r>
              <a:rPr lang="en-US" sz="17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TMRh20, RF24: Optimized driver for nRF24L01(+) (open source).</a:t>
            </a:r>
            <a:endParaRPr lang="en-US" sz="1700" dirty="0"/>
          </a:p>
          <a:p>
            <a:pPr marL="0" indent="0">
              <a:buNone/>
            </a:pPr>
            <a:r>
              <a:rPr lang="en-US" sz="1700" b="1" dirty="0">
                <a:solidFill>
                  <a:srgbClr val="4F46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[6]  </a:t>
            </a:r>
            <a:r>
              <a:rPr lang="en-US" sz="17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Lamarr &amp; Antheil, Secret Communication System, U.S. Patent 2,292,387, 1942.</a:t>
            </a:r>
            <a:endParaRPr lang="en-US" sz="1700" dirty="0"/>
          </a:p>
          <a:p>
            <a:pPr marL="0" indent="0">
              <a:buNone/>
            </a:pPr>
            <a:r>
              <a:rPr lang="en-US" sz="1700" b="1" dirty="0">
                <a:solidFill>
                  <a:srgbClr val="4F46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[7]  </a:t>
            </a:r>
            <a:r>
              <a:rPr lang="en-US" sz="17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ITU-T Recommendation V.41, CRC-16-CCITT.</a:t>
            </a:r>
            <a:endParaRPr lang="en-US" sz="1700" dirty="0"/>
          </a:p>
          <a:p>
            <a:pPr marL="0" indent="0">
              <a:buNone/>
            </a:pPr>
            <a:r>
              <a:rPr lang="en-US" sz="1700" b="1" dirty="0">
                <a:solidFill>
                  <a:srgbClr val="4F46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[8]  </a:t>
            </a:r>
            <a:r>
              <a:rPr lang="en-US" sz="170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A. Goldsmith, Wireless Communications, Cambridge University Press.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1430000" y="6336792"/>
            <a:ext cx="402336" cy="402336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0" y="63367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643737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FELCOM  ·  Secure Handheld Communication Device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1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2743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Shape 1"/>
          <p:cNvSpPr/>
          <p:nvPr/>
        </p:nvSpPr>
        <p:spPr>
          <a:xfrm>
            <a:off x="4206240" y="0"/>
            <a:ext cx="3840480" cy="27432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8046720" y="0"/>
            <a:ext cx="4144975" cy="2743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" name="Shape 3"/>
          <p:cNvSpPr/>
          <p:nvPr/>
        </p:nvSpPr>
        <p:spPr>
          <a:xfrm>
            <a:off x="-1097280" y="4480560"/>
            <a:ext cx="3291840" cy="3291840"/>
          </a:xfrm>
          <a:prstGeom prst="ellipse">
            <a:avLst/>
          </a:prstGeom>
          <a:solidFill>
            <a:srgbClr val="7C3AED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9875520" y="-1097280"/>
            <a:ext cx="3108960" cy="3108960"/>
          </a:xfrm>
          <a:prstGeom prst="ellipse">
            <a:avLst/>
          </a:prstGeom>
          <a:solidFill>
            <a:srgbClr val="4F46E5">
              <a:alpha val="65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37160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Acknowledgments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2377440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560320"/>
            <a:ext cx="104241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1200"/>
              </a:spcAft>
              <a:buSzPct val="100000"/>
            </a:pPr>
            <a:r>
              <a:rPr lang="en-US" sz="2400" dirty="0">
                <a:solidFill>
                  <a:schemeClr val="bg1"/>
                </a:solidFill>
              </a:rPr>
              <a:t>We would like to </a:t>
            </a:r>
            <a:r>
              <a:rPr lang="en-US" sz="2400" dirty="0" smtClean="0">
                <a:solidFill>
                  <a:schemeClr val="bg1"/>
                </a:solidFill>
              </a:rPr>
              <a:t>thank Dr</a:t>
            </a:r>
            <a:r>
              <a:rPr lang="en-US" sz="2400" dirty="0">
                <a:solidFill>
                  <a:schemeClr val="bg1"/>
                </a:solidFill>
              </a:rPr>
              <a:t>. </a:t>
            </a:r>
            <a:r>
              <a:rPr lang="en-US" sz="2400" dirty="0" err="1">
                <a:solidFill>
                  <a:schemeClr val="bg1"/>
                </a:solidFill>
              </a:rPr>
              <a:t>Hadi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400" dirty="0" err="1">
                <a:solidFill>
                  <a:schemeClr val="bg1"/>
                </a:solidFill>
              </a:rPr>
              <a:t>Jerdek</a:t>
            </a:r>
            <a:r>
              <a:rPr lang="en-US" sz="2400" dirty="0">
                <a:solidFill>
                  <a:schemeClr val="bg1"/>
                </a:solidFill>
              </a:rPr>
              <a:t>, for his supervision of this project and for the valuable knowledge he shared with us through the telecommunications courses he taught</a:t>
            </a:r>
            <a:r>
              <a:rPr lang="en-US" sz="2400" dirty="0" smtClean="0">
                <a:solidFill>
                  <a:schemeClr val="bg1"/>
                </a:solidFill>
              </a:rPr>
              <a:t>.</a:t>
            </a:r>
          </a:p>
          <a:p>
            <a:pPr>
              <a:spcAft>
                <a:spcPts val="1200"/>
              </a:spcAft>
              <a:buSzPct val="100000"/>
            </a:pPr>
            <a:r>
              <a:rPr lang="en-US" sz="2400" dirty="0">
                <a:solidFill>
                  <a:schemeClr val="bg1"/>
                </a:solidFill>
              </a:rPr>
              <a:t>We </a:t>
            </a:r>
            <a:r>
              <a:rPr lang="en-US" sz="2400" dirty="0" smtClean="0">
                <a:solidFill>
                  <a:schemeClr val="bg1"/>
                </a:solidFill>
              </a:rPr>
              <a:t>also thank </a:t>
            </a:r>
            <a:r>
              <a:rPr lang="en-US" sz="2400" dirty="0">
                <a:solidFill>
                  <a:schemeClr val="bg1"/>
                </a:solidFill>
              </a:rPr>
              <a:t>the </a:t>
            </a:r>
            <a:r>
              <a:rPr lang="en-US" sz="2400" dirty="0" smtClean="0">
                <a:solidFill>
                  <a:schemeClr val="bg1"/>
                </a:solidFill>
              </a:rPr>
              <a:t>Lebanese University </a:t>
            </a:r>
            <a:r>
              <a:rPr lang="en-US" sz="2400" dirty="0">
                <a:solidFill>
                  <a:schemeClr val="bg1"/>
                </a:solidFill>
              </a:rPr>
              <a:t>for allowing us to use its open air to test our </a:t>
            </a:r>
            <a:r>
              <a:rPr lang="en-US" sz="2400" dirty="0" smtClean="0">
                <a:solidFill>
                  <a:schemeClr val="bg1"/>
                </a:solidFill>
              </a:rPr>
              <a:t>devices.</a:t>
            </a:r>
            <a:endParaRPr lang="en-US" sz="2300" dirty="0">
              <a:solidFill>
                <a:schemeClr val="bg1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  ·  Questions?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875</Words>
  <Application>Microsoft Office PowerPoint</Application>
  <PresentationFormat>Widescreen</PresentationFormat>
  <Paragraphs>164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Lebanese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FELCOM</dc:title>
  <dc:subject>PptxGenJS Presentation</dc:subject>
  <dc:creator>FELCOM Team</dc:creator>
  <cp:lastModifiedBy>User</cp:lastModifiedBy>
  <cp:revision>5</cp:revision>
  <dcterms:created xsi:type="dcterms:W3CDTF">2026-06-26T08:38:59Z</dcterms:created>
  <dcterms:modified xsi:type="dcterms:W3CDTF">2026-06-26T09:06:52Z</dcterms:modified>
</cp:coreProperties>
</file>