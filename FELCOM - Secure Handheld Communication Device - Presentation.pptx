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24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33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840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4206240"/>
            <a:ext cx="3657600" cy="3657600"/>
          </a:xfrm>
          <a:prstGeom prst="ellipse">
            <a:avLst/>
          </a:prstGeom>
          <a:solidFill>
            <a:srgbClr val="4F46E5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005840" y="-1005840"/>
            <a:ext cx="2377440" cy="2377440"/>
          </a:xfrm>
          <a:prstGeom prst="ellipse">
            <a:avLst/>
          </a:prstGeom>
          <a:solidFill>
            <a:srgbClr val="7C3AED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Secure Handheld Communication Device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41248" y="3474720"/>
            <a:ext cx="2103120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Shape 8"/>
          <p:cNvSpPr/>
          <p:nvPr/>
        </p:nvSpPr>
        <p:spPr>
          <a:xfrm>
            <a:off x="2944368" y="3474720"/>
            <a:ext cx="914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7589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 Gedeon   ·   Yorgo Hassabou   ·   Charbel Assaad</a:t>
            </a:r>
            <a:endParaRPr lang="en-US" sz="19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700" dirty="0">
                <a:solidFill>
                  <a:srgbClr val="C9C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Mini-Project   ·   2025 / 2026</a:t>
            </a:r>
            <a:endParaRPr lang="en-US" sz="19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700" dirty="0">
                <a:solidFill>
                  <a:srgbClr val="C9C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to: Dr. Hadi Jerdek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9C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Lebanese University   ·   Faculty of Engineering</a:t>
            </a:r>
            <a:endParaRPr lang="en-US" sz="19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F972744-12AC-FB2A-2ED7-BC4BC5DA1E24}"/>
              </a:ext>
            </a:extLst>
          </p:cNvPr>
          <p:cNvSpPr/>
          <p:nvPr/>
        </p:nvSpPr>
        <p:spPr>
          <a:xfrm>
            <a:off x="7936992" y="1554480"/>
            <a:ext cx="3630168" cy="4023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pic>
        <p:nvPicPr>
          <p:cNvPr id="15" name="Image 0" descr="C:/Users/h/Desktop/Mini-project Fec/Mini-Project/hardware/imgs/FELCOM assembled.jpeg">
            <a:extLst>
              <a:ext uri="{FF2B5EF4-FFF2-40B4-BE49-F238E27FC236}">
                <a16:creationId xmlns:a16="http://schemas.microsoft.com/office/drawing/2014/main" id="{07EF6573-1808-D3CC-8BD0-AB139F593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0" y="1682496"/>
            <a:ext cx="3337560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 &amp; goals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hopping &amp; sync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 protocol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error correction</a:t>
            </a:r>
            <a:endParaRPr lang="en-US" sz="2300" dirty="0"/>
          </a:p>
          <a:p>
            <a:r>
              <a:rPr lang="en-US" sz="2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applications</a:t>
            </a:r>
            <a:endParaRPr lang="en-US" sz="2300" dirty="0"/>
          </a:p>
          <a:p>
            <a:r>
              <a:rPr lang="en-US" sz="2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Real-time audio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 </a:t>
            </a: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conclusion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FELCOM?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Networks rely on fixed infrastructure: a single point of failure.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Off-grid need: a direct link, no third party.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fixed-frequency radio is easy to jam and intercept.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Answer: spread spectrum, constantly change the frequency.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live voice over 2.4 GHz, no infrastructure.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FHSS: jam and detection resistance.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32-byte packet protocol with FEC.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encryption, BER test, and a Pong demo.</a:t>
            </a:r>
            <a:endParaRPr 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42FC74-A257-1573-7BE4-7267188B2FA0}"/>
              </a:ext>
            </a:extLst>
          </p:cNvPr>
          <p:cNvGrpSpPr/>
          <p:nvPr/>
        </p:nvGrpSpPr>
        <p:grpSpPr>
          <a:xfrm>
            <a:off x="1648218" y="4180961"/>
            <a:ext cx="8895258" cy="1455068"/>
            <a:chOff x="2243016" y="4126140"/>
            <a:chExt cx="7674707" cy="1641614"/>
          </a:xfrm>
        </p:grpSpPr>
        <p:sp>
          <p:nvSpPr>
            <p:cNvPr id="7" name="Shape 5"/>
            <p:cNvSpPr/>
            <p:nvPr/>
          </p:nvSpPr>
          <p:spPr>
            <a:xfrm>
              <a:off x="2243016" y="4126140"/>
              <a:ext cx="7674707" cy="1641614"/>
            </a:xfrm>
            <a:prstGeom prst="roundRect">
              <a:avLst>
                <a:gd name="adj" fmla="val 2807"/>
              </a:avLst>
            </a:prstGeom>
            <a:solidFill>
              <a:srgbClr val="F4F2FF"/>
            </a:solidFill>
            <a:ln w="12700">
              <a:solidFill>
                <a:srgbClr val="D7D3F0"/>
              </a:solidFill>
              <a:prstDash val="solid"/>
            </a:ln>
          </p:spPr>
        </p:sp>
        <p:pic>
          <p:nvPicPr>
            <p:cNvPr id="8" name="Image 0" descr="C:/Users/h/AppData/Local/Temp/claude/c--Users-h-Desktop-Mini-project-Fec-Mini-Project/4af49bb4-fc29-49ed-b315-f05a2bedcaee/scratchpad/pptxbuild/assets/context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449267" y="4244873"/>
              <a:ext cx="7293160" cy="1388517"/>
            </a:xfrm>
            <a:prstGeom prst="rect">
              <a:avLst/>
            </a:prstGeom>
          </p:spPr>
        </p:pic>
      </p:grpSp>
      <p:sp>
        <p:nvSpPr>
          <p:cNvPr id="9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+ nRF24L01+ 2.4 GHz radio (SPI).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INMP441 mic, DAC + LM386 + speaker.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OLED + buttons, custom PCB.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firmware, non-blocking loop.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0" y="1371600"/>
            <a:ext cx="3931920" cy="4709160"/>
          </a:xfrm>
          <a:prstGeom prst="roundRect">
            <a:avLst>
              <a:gd name="adj" fmla="val 1553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pic>
        <p:nvPicPr>
          <p:cNvPr id="8" name="Image 0" descr="C:/Users/h/AppData/Local/Temp/claude/c--Users-h-Desktop-Mini-project-Fec-Mini-Project/4af49bb4-fc29-49ed-b315-f05a2bedcaee/scratchpad/pptxbuild/asset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22197" y="1527048"/>
            <a:ext cx="3478045" cy="44165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Hopping &amp; Synchronization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channels (110 to 115), above Wi-Fi.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Hop every 500 ms; full sweep in 3 s.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jammer only spoils the few matching hops.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counter keeps both nodes aligned.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Sync once, then stable: no drift over 3 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9520" y="2286000"/>
            <a:ext cx="4160520" cy="178308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4231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hop every 500 ms from
// the shared counter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= readCounter() % 6;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setChannel(HOPPING[slot]);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32-Byte Frame for Everything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32-byte frame (the nRF24 maximum).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Header: src, dst, packet type, FEC metadata.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data bytes; one frame for text, voice, control (0xFF = broadcast).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1097280" cy="960120"/>
          </a:xfrm>
          <a:prstGeom prst="rect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65960" y="3611880"/>
            <a:ext cx="1097280" cy="960120"/>
          </a:xfrm>
          <a:prstGeom prst="rect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6118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63240" y="3611880"/>
            <a:ext cx="1783080" cy="96012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61188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+ fec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6263640" cy="960120"/>
          </a:xfrm>
          <a:prstGeom prst="rect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61188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4800600"/>
            <a:ext cx="4937760" cy="59436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8006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payload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84080" y="4800600"/>
            <a:ext cx="1325880" cy="594360"/>
          </a:xfrm>
          <a:prstGeom prst="rect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48006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CRC-16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532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 in the last 2 of the 28 data bytes; ARQ uses the first 2 for a sequence number.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Error Correction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own error control (radio CRC and ACK off).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CRC-16: detect and drop corruption.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 (chat): retransmit until acknowledged.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 (audio): rebuild one lost packet per block of four.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774092" y="3469953"/>
            <a:ext cx="8650067" cy="2967423"/>
          </a:xfrm>
          <a:prstGeom prst="roundRect">
            <a:avLst>
              <a:gd name="adj" fmla="val 2807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pic>
        <p:nvPicPr>
          <p:cNvPr id="8" name="Image 0" descr="C:/Users/h/AppData/Local/Temp/claude/c--Users-h-Desktop-Mini-project-Fec-Mini-Project/4af49bb4-fc29-49ed-b315-f05a2bedcaee/scratchpad/pptxbuild/assets/xor-fe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42312" y="3611880"/>
            <a:ext cx="6276895" cy="268356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Applications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 cipher on chat text.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Obfuscation, not strong crypto.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Hopping makes capture hard.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Modes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Sync: align the hop counters.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Chat: reliable encrypted text.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Audio: voice walkie-talkie.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Pong: real-time game.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RF/BER Test: link diagnostics.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Voice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160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Half-duplex walkie-talkie.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kHz, 8-bit voice.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Non-blocking: streams while hopping.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by CRC + XOR FEC.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291840" cy="4709160"/>
          </a:xfrm>
          <a:prstGeom prst="roundRect">
            <a:avLst>
              <a:gd name="adj" fmla="val 2222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81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 (talk)</a:t>
            </a:r>
            <a:endParaRPr lang="en-US" sz="1500" dirty="0"/>
          </a:p>
        </p:txBody>
      </p:sp>
      <p:pic>
        <p:nvPicPr>
          <p:cNvPr id="9" name="Image 0" descr="C:/Users/h/AppData/Local/Temp/claude/c--Users-h-Desktop-Mini-project-Fec-Mini-Project/4af49bb4-fc29-49ed-b315-f05a2bedcaee/scratchpad/pptxbuild/assets/audio-pipe-transmi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3480" y="1920240"/>
            <a:ext cx="292608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371600"/>
            <a:ext cx="3291840" cy="4709160"/>
          </a:xfrm>
          <a:prstGeom prst="roundRect">
            <a:avLst>
              <a:gd name="adj" fmla="val 2222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481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(listen)</a:t>
            </a:r>
            <a:endParaRPr lang="en-US" sz="1500" dirty="0"/>
          </a:p>
        </p:txBody>
      </p:sp>
      <p:pic>
        <p:nvPicPr>
          <p:cNvPr id="12" name="Image 1" descr="C:/Users/h/AppData/Local/Temp/claude/c--Users-h-Desktop-Mini-project-Fec-Mini-Project/4af49bb4-fc29-49ed-b315-f05a2bedcaee/scratchpad/pptxbuild/assets/audio-pipe-rece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03920" y="1920240"/>
            <a:ext cx="2926080" cy="4023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0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603504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FHSS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FHSS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Delivered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85.4%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Lost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14.6%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Bit-error rate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5544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1691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correction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269480" y="219456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ARQ: 29 / 32 delivered, 0 corrupt.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XOR: 516 packets rebuilt.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CRC: 2,027 corrupt dropped.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46177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FF3D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6177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6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FHSS cut packet loss from 52% to 14.6% on the same channel set.</a:t>
            </a:r>
            <a:endParaRPr lang="en-US" sz="2000" dirty="0"/>
          </a:p>
        </p:txBody>
      </p:sp>
      <p:sp>
        <p:nvSpPr>
          <p:cNvPr id="6" name="Shape 9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Sync: manual alignment (auto deferred).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pipeline: DAC rework, skip CSMA.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nRF24L01+ modules unreliable.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 authenticated encryption.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synchronization.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Larger buffer / stronger code for audio.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840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389120"/>
            <a:ext cx="3474720" cy="3474720"/>
          </a:xfrm>
          <a:prstGeom prst="ellipse">
            <a:avLst/>
          </a:prstGeom>
          <a:solidFill>
            <a:srgbClr val="4F46E5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04672" y="1463040"/>
            <a:ext cx="210312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2880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Jam-resistant text and voice on cheap hardware.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FHSS is the key: packet loss 52% to 14.6%.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 matched per traffic type: CRC, ARQ, XOR.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 custom PCB, validated on real hardware.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49834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work: </a:t>
            </a: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 encryption and automatic synchronization.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36992" y="1554480"/>
            <a:ext cx="3630168" cy="4023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pic>
        <p:nvPicPr>
          <p:cNvPr id="11" name="Image 0" descr="C:/Users/h/Desktop/Mini-project Fec/Mini-Project/hardware/imgs/FELCOM assembled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0" y="1682496"/>
            <a:ext cx="3337560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Nordic Semiconductor, nRF24L01+ Transceiver Product Specification.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Espressif Systems, ESP32 Technical Reference Manual and Datasheet.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InvenSense (TDK), INMP441 I2S Microphone Datasheet.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Texas Instruments, LM386 Audio Power Amplifier Datasheet.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TMRh20, RF24: Optimized driver for nRF24L01(+) (open source).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Lamarr &amp; Antheil, Secret Communication System, U.S. Patent 2,292,387, 1942.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ITU-T Recommendation V.41, CRC-16-CCITT.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[8]  </a:t>
            </a: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Goldsmith, Wireless Communications, Cambridge University Press.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840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-1097280"/>
            <a:ext cx="3108960" cy="3108960"/>
          </a:xfrm>
          <a:prstGeom prst="ellipse">
            <a:avLst/>
          </a:prstGeom>
          <a:solidFill>
            <a:srgbClr val="4F46E5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Acknowledgments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3774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032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</a:rPr>
              <a:t>We would like to thank Dr. </a:t>
            </a:r>
            <a:r>
              <a:rPr lang="en-US" sz="2400" dirty="0" err="1">
                <a:solidFill>
                  <a:schemeClr val="bg1"/>
                </a:solidFill>
              </a:rPr>
              <a:t>Hadi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Jerdek</a:t>
            </a:r>
            <a:r>
              <a:rPr lang="en-US" sz="2400" dirty="0">
                <a:solidFill>
                  <a:schemeClr val="bg1"/>
                </a:solidFill>
              </a:rPr>
              <a:t>, for his supervision of this project and for the valuable knowledge he shared with us through the telecommunications courses he taught.</a:t>
            </a:r>
          </a:p>
          <a:p>
            <a:pPr>
              <a:spcAft>
                <a:spcPts val="12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</a:rPr>
              <a:t>We also thank the Lebanese University for allowing us to use its open air to test our devices.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900</Words>
  <Application>Microsoft Macintosh PowerPoint</Application>
  <PresentationFormat>Widescreen</PresentationFormat>
  <Paragraphs>164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Lebanese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FELCOM</dc:title>
  <dc:subject>PptxGenJS Presentation</dc:subject>
  <dc:creator>FELCOM Team</dc:creator>
  <cp:lastModifiedBy>Charbel Assaad</cp:lastModifiedBy>
  <cp:revision>8</cp:revision>
  <dcterms:created xsi:type="dcterms:W3CDTF">2026-06-26T08:38:59Z</dcterms:created>
  <dcterms:modified xsi:type="dcterms:W3CDTF">2026-06-26T09:58:28Z</dcterms:modified>
</cp:coreProperties>
</file>